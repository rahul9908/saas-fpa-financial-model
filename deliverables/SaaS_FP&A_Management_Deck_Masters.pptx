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2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3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charts/chart4.xml" ContentType="application/vnd.openxmlformats-officedocument.drawingml.chart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5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6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7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8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8b094c37fe4c7d" /><Relationship Type="http://schemas.openxmlformats.org/officeDocument/2006/relationships/extended-properties" Target="/docProps/app.xml" Id="R1861cb91cfce45cf" /><Relationship Type="http://schemas.openxmlformats.org/officeDocument/2006/relationships/officeDocument" Target="/ppt/presentation.xml" Id="Re2d688700fef4d0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87b60880a143a9"/>
  </p:sldMasterIdLst>
  <p:notesMasterIdLst>
    <p:notesMasterId xmlns:r="http://schemas.openxmlformats.org/officeDocument/2006/relationships" r:id="Ra2a5318b6b0d464a"/>
  </p:notesMasterIdLst>
  <p:sldIdLst>
    <p:sldId xmlns:r="http://schemas.openxmlformats.org/officeDocument/2006/relationships" id="256" r:id="Rceb1716cd4fa4e4d"/>
    <p:sldId xmlns:r="http://schemas.openxmlformats.org/officeDocument/2006/relationships" id="257" r:id="Rbc0678ec2def4310"/>
    <p:sldId xmlns:r="http://schemas.openxmlformats.org/officeDocument/2006/relationships" id="258" r:id="Rf3450ab09e2e4eb6"/>
    <p:sldId xmlns:r="http://schemas.openxmlformats.org/officeDocument/2006/relationships" id="259" r:id="R3c3bc13c4f8c4460"/>
    <p:sldId xmlns:r="http://schemas.openxmlformats.org/officeDocument/2006/relationships" id="260" r:id="R01ca372666bc482f"/>
    <p:sldId xmlns:r="http://schemas.openxmlformats.org/officeDocument/2006/relationships" id="261" r:id="R66c159217fb4439f"/>
    <p:sldId xmlns:r="http://schemas.openxmlformats.org/officeDocument/2006/relationships" id="262" r:id="R5362e6004e104041"/>
    <p:sldId xmlns:r="http://schemas.openxmlformats.org/officeDocument/2006/relationships" id="263" r:id="R74ec6fae04764cd8"/>
    <p:sldId xmlns:r="http://schemas.openxmlformats.org/officeDocument/2006/relationships" id="264" r:id="R8ce8f3f5ad57458f"/>
    <p:sldId xmlns:r="http://schemas.openxmlformats.org/officeDocument/2006/relationships" id="265" r:id="R9bb337e9de354245"/>
    <p:sldId xmlns:r="http://schemas.openxmlformats.org/officeDocument/2006/relationships" id="266" r:id="R7e491df8159f40c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c23bc4b92443c2" /><Relationship Type="http://schemas.openxmlformats.org/officeDocument/2006/relationships/slideMaster" Target="/ppt/slideMasters/slideMaster1.xml" Id="Rdc87b60880a143a9" /><Relationship Type="http://schemas.openxmlformats.org/officeDocument/2006/relationships/notesMaster" Target="/ppt/notesMasters/notesMaster1.xml" Id="Ra2a5318b6b0d464a" /><Relationship Type="http://schemas.openxmlformats.org/officeDocument/2006/relationships/presProps" Target="/ppt/presProps.xml" Id="Rcd958e31e4ff4428" /><Relationship Type="http://schemas.openxmlformats.org/officeDocument/2006/relationships/tableStyles" Target="/ppt/tableStyles.xml" Id="R65b5da4e2a2b4bce" /><Relationship Type="http://schemas.openxmlformats.org/officeDocument/2006/relationships/slide" Target="/ppt/slides/slide1.xml" Id="Rceb1716cd4fa4e4d" /><Relationship Type="http://schemas.openxmlformats.org/officeDocument/2006/relationships/slide" Target="/ppt/slides/slide2.xml" Id="Rbc0678ec2def4310" /><Relationship Type="http://schemas.openxmlformats.org/officeDocument/2006/relationships/slide" Target="/ppt/slides/slide3.xml" Id="Rf3450ab09e2e4eb6" /><Relationship Type="http://schemas.openxmlformats.org/officeDocument/2006/relationships/slide" Target="/ppt/slides/slide4.xml" Id="R3c3bc13c4f8c4460" /><Relationship Type="http://schemas.openxmlformats.org/officeDocument/2006/relationships/slide" Target="/ppt/slides/slide5.xml" Id="R01ca372666bc482f" /><Relationship Type="http://schemas.openxmlformats.org/officeDocument/2006/relationships/slide" Target="/ppt/slides/slide6.xml" Id="R66c159217fb4439f" /><Relationship Type="http://schemas.openxmlformats.org/officeDocument/2006/relationships/slide" Target="/ppt/slides/slide7.xml" Id="R5362e6004e104041" /><Relationship Type="http://schemas.openxmlformats.org/officeDocument/2006/relationships/slide" Target="/ppt/slides/slide8.xml" Id="R74ec6fae04764cd8" /><Relationship Type="http://schemas.openxmlformats.org/officeDocument/2006/relationships/slide" Target="/ppt/slides/slide9.xml" Id="R8ce8f3f5ad57458f" /><Relationship Type="http://schemas.openxmlformats.org/officeDocument/2006/relationships/slide" Target="/ppt/slides/slide10.xml" Id="R9bb337e9de354245" /><Relationship Type="http://schemas.openxmlformats.org/officeDocument/2006/relationships/slide" Target="/ppt/slides/slide11.xml" Id="R7e491df8159f40c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04d935d875c477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e22c594d8e4ee9" /><Relationship Type="http://schemas.openxmlformats.org/officeDocument/2006/relationships/notesMaster" Target="/ppt/notesMasters/notesMaster1.xml" Id="Ra0aef4be6ec2421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5450de2c3df470c" /><Relationship Type="http://schemas.openxmlformats.org/officeDocument/2006/relationships/notesMaster" Target="/ppt/notesMasters/notesMaster1.xml" Id="R44bf5ded6814420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2374fd5067d492b" /><Relationship Type="http://schemas.openxmlformats.org/officeDocument/2006/relationships/notesMaster" Target="/ppt/notesMasters/notesMaster1.xml" Id="Ra6ba9cfde858494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d8f797a29a04d9b" /><Relationship Type="http://schemas.openxmlformats.org/officeDocument/2006/relationships/notesMaster" Target="/ppt/notesMasters/notesMaster1.xml" Id="Rf337ec274a0e44e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3ad79aae8cc4df4" /><Relationship Type="http://schemas.openxmlformats.org/officeDocument/2006/relationships/notesMaster" Target="/ppt/notesMasters/notesMaster1.xml" Id="Rd34a5972d18d4d9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ad86e6cd9f74e27" /><Relationship Type="http://schemas.openxmlformats.org/officeDocument/2006/relationships/notesMaster" Target="/ppt/notesMasters/notesMaster1.xml" Id="R6b026e053005472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085393e35c2492d" /><Relationship Type="http://schemas.openxmlformats.org/officeDocument/2006/relationships/notesMaster" Target="/ppt/notesMasters/notesMaster1.xml" Id="Rffb2f03314a3427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36b124b12e7471f" /><Relationship Type="http://schemas.openxmlformats.org/officeDocument/2006/relationships/notesMaster" Target="/ppt/notesMasters/notesMaster1.xml" Id="R88d355e56c0d491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4886687e47fe4e95" /><Relationship Type="http://schemas.openxmlformats.org/officeDocument/2006/relationships/notesMaster" Target="/ppt/notesMasters/notesMaster1.xml" Id="R4403b2d22c00447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2a1810dc711492c" /><Relationship Type="http://schemas.openxmlformats.org/officeDocument/2006/relationships/notesMaster" Target="/ppt/notesMasters/notesMaster1.xml" Id="Re5c6f783aafe48d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d43033dec5d4086" /><Relationship Type="http://schemas.openxmlformats.org/officeDocument/2006/relationships/notesMaster" Target="/ppt/notesMasters/notesMaster1.xml" Id="R69b2924f8c154fc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synthetic model outputs. Revenue variance = actual less budget. Expense and loss figures use the modeled accrual P&amp;L.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subscriptions.csv. MRR is ending customers multiplied by realized plan price, including modeled expansion for Growth and Enterprise plans.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financials_monthly.csv, January-June 2026. Expense variance wording is actual less budget on this slide.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headcount_monthly.csv and operating_expenses.csv. Headcount variance is actual less planned at June month-end.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financials_monthly.csv. Cash flow is a planning proxy based on modeled revenue, costs, capex, and financing; it is not a GAAP statement of cash flows.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Scenario outputs are modeled estimates. Driver definitions are in scenario_assumptions.csv and the Excel Scenarios sheet.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Actions are portfolio-case recommendations based on the model mechanics and should be validated against real operating constraints before use.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3e70149176407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335d0ea0434a09" /><Relationship Type="http://schemas.openxmlformats.org/officeDocument/2006/relationships/slideLayout" Target="/ppt/slideLayouts/slideLayout1.xml" Id="R8c4596b0a0624af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4596b0a0624af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b01e00bd454e68" /><Relationship Type="http://schemas.openxmlformats.org/officeDocument/2006/relationships/notesSlide" Target="/ppt/notesSlides/notesSlide1.xml" Id="Rc6d182e20e0d49f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e398f9d9f04a7e" /><Relationship Type="http://schemas.openxmlformats.org/officeDocument/2006/relationships/notesSlide" Target="/ppt/notesSlides/notesSlide2.xml" Id="R01eb2f752777470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21c446ea214b5b" /><Relationship Type="http://schemas.openxmlformats.org/officeDocument/2006/relationships/chart" Target="/ppt/slides/charts/chart1.xml" Id="R2a0b59ff6a06483b" /><Relationship Type="http://schemas.openxmlformats.org/officeDocument/2006/relationships/notesSlide" Target="/ppt/notesSlides/notesSlide3.xml" Id="R4103d4c9058c458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18804d4ee64e0c" /><Relationship Type="http://schemas.openxmlformats.org/officeDocument/2006/relationships/chart" Target="/ppt/slides/charts/chart2.xml" Id="Rc1d662739f9d47e7" /><Relationship Type="http://schemas.openxmlformats.org/officeDocument/2006/relationships/notesSlide" Target="/ppt/notesSlides/notesSlide4.xml" Id="Rb5c5646ef5bb426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dfad245dcf4538" /><Relationship Type="http://schemas.openxmlformats.org/officeDocument/2006/relationships/chart" Target="/ppt/slides/charts/chart3.xml" Id="Rb15a34208ca742f4" /><Relationship Type="http://schemas.openxmlformats.org/officeDocument/2006/relationships/notesSlide" Target="/ppt/notesSlides/notesSlide5.xml" Id="R585ad7d35233435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53d7b3281f4ac4" /><Relationship Type="http://schemas.openxmlformats.org/officeDocument/2006/relationships/chart" Target="/ppt/slides/charts/chart4.xml" Id="Rb7ca223cfadd4983" /><Relationship Type="http://schemas.openxmlformats.org/officeDocument/2006/relationships/notesSlide" Target="/ppt/notesSlides/notesSlide6.xml" Id="R96a4167509dd4d6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3400aafd964966" /><Relationship Type="http://schemas.openxmlformats.org/officeDocument/2006/relationships/chart" Target="/ppt/slides/charts/chart5.xml" Id="R9da95755cc754455" /><Relationship Type="http://schemas.openxmlformats.org/officeDocument/2006/relationships/notesSlide" Target="/ppt/notesSlides/notesSlide7.xml" Id="R74fca32d27e848d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fc4931055d4128" /><Relationship Type="http://schemas.openxmlformats.org/officeDocument/2006/relationships/chart" Target="/ppt/slides/charts/chart6.xml" Id="Re48e4180daab4453" /><Relationship Type="http://schemas.openxmlformats.org/officeDocument/2006/relationships/notesSlide" Target="/ppt/notesSlides/notesSlide8.xml" Id="Rca181b47fea8489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a6a47f15fe4438" /><Relationship Type="http://schemas.openxmlformats.org/officeDocument/2006/relationships/chart" Target="/ppt/slides/charts/chart7.xml" Id="Rb8b26ad8e14246a3" /><Relationship Type="http://schemas.openxmlformats.org/officeDocument/2006/relationships/notesSlide" Target="/ppt/notesSlides/notesSlide9.xml" Id="R1267a4f5bf3e45a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31b0c5a9894054" /><Relationship Type="http://schemas.openxmlformats.org/officeDocument/2006/relationships/chart" Target="/ppt/slides/charts/chart8.xml" Id="R3fd5201b03344678" /><Relationship Type="http://schemas.openxmlformats.org/officeDocument/2006/relationships/notesSlide" Target="/ppt/notesSlides/notesSlide10.xml" Id="Racaf0a59a7f94ba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e9d748cc5340a7" /><Relationship Type="http://schemas.openxmlformats.org/officeDocument/2006/relationships/notesSlide" Target="/ppt/notesSlides/notesSlide11.xml" Id="Rf8121f6861d049f4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MRR ($K)</c:v>
          </c:tx>
          <c:spPr>
            <a:solidFill xmlns:a="http://schemas.openxmlformats.org/drawingml/2006/main">
              <a:srgbClr val="2F75B5"/>
            </a:solidFill>
          </c:spPr>
          <c:marker>
            <c:symbol val="none"/>
          </c:marker>
          <c:cat>
            <c:strRef>
              <c:f>'Chart Data'!$A$2:$A$13</c:f>
              <c:strCache>
                <c:ptCount val="12"/>
                <c:pt idx="0">
                  <c:v>07/25</c:v>
                </c:pt>
                <c:pt idx="1">
                  <c:v>08/25</c:v>
                </c:pt>
                <c:pt idx="2">
                  <c:v>09/25</c:v>
                </c:pt>
                <c:pt idx="3">
                  <c:v>10/25</c:v>
                </c:pt>
                <c:pt idx="4">
                  <c:v>11/25</c:v>
                </c:pt>
                <c:pt idx="5">
                  <c:v>12/25</c:v>
                </c:pt>
                <c:pt idx="6">
                  <c:v>01/26</c:v>
                </c:pt>
                <c:pt idx="7">
                  <c:v>02/26</c:v>
                </c:pt>
                <c:pt idx="8">
                  <c:v>03/26</c:v>
                </c:pt>
                <c:pt idx="9">
                  <c:v>04/26</c:v>
                </c:pt>
                <c:pt idx="10">
                  <c:v>05/26</c:v>
                </c:pt>
                <c:pt idx="11">
                  <c:v>06/26</c:v>
                </c:pt>
              </c:strCache>
            </c:strRef>
          </c:cat>
          <c:val>
            <c:numRef>
              <c:f>'Chart Data'!$B$2:$B$13</c:f>
              <c:numCache>
                <c:formatCode>General</c:formatCode>
                <c:ptCount val="12"/>
                <c:pt idx="0">
                  <c:v>318.9</c:v>
                </c:pt>
                <c:pt idx="1">
                  <c:v>326.7</c:v>
                </c:pt>
                <c:pt idx="2">
                  <c:v>333</c:v>
                </c:pt>
                <c:pt idx="3">
                  <c:v>339.9</c:v>
                </c:pt>
                <c:pt idx="4">
                  <c:v>347.1</c:v>
                </c:pt>
                <c:pt idx="5">
                  <c:v>352.6</c:v>
                </c:pt>
                <c:pt idx="6">
                  <c:v>374</c:v>
                </c:pt>
                <c:pt idx="7">
                  <c:v>386.1</c:v>
                </c:pt>
                <c:pt idx="8">
                  <c:v>397.2</c:v>
                </c:pt>
                <c:pt idx="9">
                  <c:v>410.4</c:v>
                </c:pt>
                <c:pt idx="10">
                  <c:v>420.6</c:v>
                </c:pt>
                <c:pt idx="11">
                  <c:v>430.4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Budget ($M)</c:v>
          </c:tx>
          <c:spPr>
            <a:solidFill xmlns:a="http://schemas.openxmlformats.org/drawingml/2006/main">
              <a:srgbClr val="AAB7C4"/>
            </a:solidFill>
          </c:spPr>
          <c:cat>
            <c:strRef>
              <c:f>'Chart Data'!$A$2:$A$5</c:f>
              <c:strCache>
                <c:ptCount val="4"/>
                <c:pt idx="0">
                  <c:v>Revenue</c:v>
                </c:pt>
                <c:pt idx="1">
                  <c:v>COGS</c:v>
                </c:pt>
                <c:pt idx="2">
                  <c:v>Payroll</c:v>
                </c:pt>
                <c:pt idx="3">
                  <c:v>Other opex</c:v>
                </c:pt>
              </c:strCache>
            </c:strRef>
          </c:cat>
          <c:val>
            <c:numRef>
              <c:f>'Chart Data'!$B$2:$B$5</c:f>
              <c:numCache>
                <c:formatCode>General</c:formatCode>
                <c:ptCount val="4"/>
                <c:pt idx="0">
                  <c:v>2.36</c:v>
                </c:pt>
                <c:pt idx="1">
                  <c:v>0.45</c:v>
                </c:pt>
                <c:pt idx="2">
                  <c:v>3.81</c:v>
                </c:pt>
                <c:pt idx="3">
                  <c:v>1.73</c:v>
                </c:pt>
              </c:numCache>
            </c:numRef>
          </c:val>
        </c:ser>
        <c:ser>
          <c:idx val="1"/>
          <c:order val="1"/>
          <c:tx>
            <c:v>Actual ($M)</c:v>
          </c:tx>
          <c:spPr>
            <a:solidFill xmlns:a="http://schemas.openxmlformats.org/drawingml/2006/main">
              <a:srgbClr val="2F75B5"/>
            </a:solidFill>
          </c:spPr>
          <c:cat>
            <c:strRef>
              <c:f>'Chart Data'!$C$2:$C$5</c:f>
              <c:strCache>
                <c:ptCount val="4"/>
                <c:pt idx="0">
                  <c:v>Revenue</c:v>
                </c:pt>
                <c:pt idx="1">
                  <c:v>COGS</c:v>
                </c:pt>
                <c:pt idx="2">
                  <c:v>Payroll</c:v>
                </c:pt>
                <c:pt idx="3">
                  <c:v>Other opex</c:v>
                </c:pt>
              </c:strCache>
            </c:strRef>
          </c:cat>
          <c:val>
            <c:numRef>
              <c:f>'Chart Data'!$D$2:$D$5</c:f>
              <c:numCache>
                <c:formatCode>General</c:formatCode>
                <c:ptCount val="4"/>
                <c:pt idx="0">
                  <c:v>2.42</c:v>
                </c:pt>
                <c:pt idx="1">
                  <c:v>0.47</c:v>
                </c:pt>
                <c:pt idx="2">
                  <c:v>3.73</c:v>
                </c:pt>
                <c:pt idx="3">
                  <c:v>1.79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YTD actual ($M)</c:v>
          </c:tx>
          <c:spPr>
            <a:solidFill xmlns:a="http://schemas.openxmlformats.org/drawingml/2006/main">
              <a:srgbClr val="2F75B5"/>
            </a:solidFill>
          </c:spPr>
          <c:cat>
            <c:strRef>
              <c:f>'Chart Data'!$A$2:$A$7</c:f>
              <c:strCache>
                <c:ptCount val="6"/>
                <c:pt idx="0">
                  <c:v>Payroll</c:v>
                </c:pt>
                <c:pt idx="1">
                  <c:v>Marketing</c:v>
                </c:pt>
                <c:pt idx="2">
                  <c:v>Cloud &amp; API</c:v>
                </c:pt>
                <c:pt idx="3">
                  <c:v>Software</c:v>
                </c:pt>
                <c:pt idx="4">
                  <c:v>Office &amp; Admin</c:v>
                </c:pt>
                <c:pt idx="5">
                  <c:v>Professional services</c:v>
                </c:pt>
              </c:strCache>
            </c:str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3.73</c:v>
                </c:pt>
                <c:pt idx="1">
                  <c:v>0.83</c:v>
                </c:pt>
                <c:pt idx="2">
                  <c:v>0.29</c:v>
                </c:pt>
                <c:pt idx="3">
                  <c:v>0.23</c:v>
                </c:pt>
                <c:pt idx="4">
                  <c:v>0.27</c:v>
                </c:pt>
                <c:pt idx="5">
                  <c:v>0.17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Ending cash ($M)</c:v>
          </c:tx>
          <c:spPr>
            <a:solidFill xmlns:a="http://schemas.openxmlformats.org/drawingml/2006/main">
              <a:srgbClr val="C00000"/>
            </a:solidFill>
          </c:spPr>
          <c:marker>
            <c:symbol val="none"/>
          </c:marker>
          <c:cat>
            <c:strRef>
              <c:f>'Chart Data'!$A$2:$A$13</c:f>
              <c:strCache>
                <c:ptCount val="12"/>
                <c:pt idx="0">
                  <c:v>01/26</c:v>
                </c:pt>
                <c:pt idx="1">
                  <c:v>02/26</c:v>
                </c:pt>
                <c:pt idx="2">
                  <c:v>03/26</c:v>
                </c:pt>
                <c:pt idx="3">
                  <c:v>04/26</c:v>
                </c:pt>
                <c:pt idx="4">
                  <c:v>05/26</c:v>
                </c:pt>
                <c:pt idx="5">
                  <c:v>06/26</c:v>
                </c:pt>
                <c:pt idx="6">
                  <c:v>07/26</c:v>
                </c:pt>
                <c:pt idx="7">
                  <c:v>08/26</c:v>
                </c:pt>
                <c:pt idx="8">
                  <c:v>09/26</c:v>
                </c:pt>
                <c:pt idx="9">
                  <c:v>10/26</c:v>
                </c:pt>
                <c:pt idx="10">
                  <c:v>11/26</c:v>
                </c:pt>
                <c:pt idx="11">
                  <c:v>12/26</c:v>
                </c:pt>
              </c:strCache>
            </c:strRef>
          </c:cat>
          <c:val>
            <c:numRef>
              <c:f>'Chart Data'!$B$2:$B$13</c:f>
              <c:numCache>
                <c:formatCode>General</c:formatCode>
                <c:ptCount val="12"/>
                <c:pt idx="0">
                  <c:v>7.65</c:v>
                </c:pt>
                <c:pt idx="1">
                  <c:v>7.07</c:v>
                </c:pt>
                <c:pt idx="2">
                  <c:v>6.47</c:v>
                </c:pt>
                <c:pt idx="3">
                  <c:v>5.86</c:v>
                </c:pt>
                <c:pt idx="4">
                  <c:v>5.24</c:v>
                </c:pt>
                <c:pt idx="5">
                  <c:v>4.61</c:v>
                </c:pt>
                <c:pt idx="6">
                  <c:v>3.96</c:v>
                </c:pt>
                <c:pt idx="7">
                  <c:v>3.35</c:v>
                </c:pt>
                <c:pt idx="8">
                  <c:v>2.74</c:v>
                </c:pt>
                <c:pt idx="9">
                  <c:v>2.13</c:v>
                </c:pt>
                <c:pt idx="10">
                  <c:v>1.53</c:v>
                </c:pt>
                <c:pt idx="11">
                  <c:v>0.93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Dec ending cash ($M)</c:v>
          </c:tx>
          <c:spPr>
            <a:solidFill xmlns:a="http://schemas.openxmlformats.org/drawingml/2006/main">
              <a:srgbClr val="00A6A6"/>
            </a:solidFill>
          </c:spPr>
          <c:cat>
            <c:strRef>
              <c:f>'Chart Data'!$A$2:$A$4</c:f>
              <c:strCache>
                <c:ptCount val="3"/>
                <c:pt idx="0">
                  <c:v>Base</c:v>
                </c:pt>
                <c:pt idx="1">
                  <c:v>Upside</c:v>
                </c:pt>
                <c:pt idx="2">
                  <c:v>Downside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1</c:v>
                </c:pt>
                <c:pt idx="1">
                  <c:v>0.57</c:v>
                </c:pt>
                <c:pt idx="2">
                  <c:v>2.03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GRR (%)</c:v>
          </c:tx>
          <c:spPr>
            <a:solidFill xmlns:a="http://schemas.openxmlformats.org/drawingml/2006/main">
              <a:srgbClr val="2F75B5"/>
            </a:solidFill>
          </c:spPr>
          <c:marker>
            <c:symbol val="none"/>
          </c:marker>
          <c:cat>
            <c:strRef>
              <c:f>'Chart Data'!$A$2:$A$13</c:f>
              <c:strCache>
                <c:ptCount val="12"/>
                <c:pt idx="0">
                  <c:v>01/26</c:v>
                </c:pt>
                <c:pt idx="1">
                  <c:v>02/26</c:v>
                </c:pt>
                <c:pt idx="2">
                  <c:v>03/26</c:v>
                </c:pt>
                <c:pt idx="3">
                  <c:v>04/26</c:v>
                </c:pt>
                <c:pt idx="4">
                  <c:v>05/26</c:v>
                </c:pt>
                <c:pt idx="5">
                  <c:v>06/26</c:v>
                </c:pt>
                <c:pt idx="6">
                  <c:v>07/26</c:v>
                </c:pt>
                <c:pt idx="7">
                  <c:v>08/26</c:v>
                </c:pt>
                <c:pt idx="8">
                  <c:v>09/26</c:v>
                </c:pt>
                <c:pt idx="9">
                  <c:v>10/26</c:v>
                </c:pt>
                <c:pt idx="10">
                  <c:v>11/26</c:v>
                </c:pt>
                <c:pt idx="11">
                  <c:v>12/26</c:v>
                </c:pt>
              </c:strCache>
            </c:strRef>
          </c:cat>
          <c:val>
            <c:numRef>
              <c:f>'Chart Data'!$B$2:$B$13</c:f>
              <c:numCache>
                <c:formatCode>General</c:formatCode>
                <c:ptCount val="12"/>
                <c:pt idx="0">
                  <c:v>98.6</c:v>
                </c:pt>
                <c:pt idx="1">
                  <c:v>98.5</c:v>
                </c:pt>
                <c:pt idx="2">
                  <c:v>98.4</c:v>
                </c:pt>
                <c:pt idx="3">
                  <c:v>98.5</c:v>
                </c:pt>
                <c:pt idx="4">
                  <c:v>98.4</c:v>
                </c:pt>
                <c:pt idx="5">
                  <c:v>98.4</c:v>
                </c:pt>
                <c:pt idx="6">
                  <c:v>98.5</c:v>
                </c:pt>
                <c:pt idx="7">
                  <c:v>98.5</c:v>
                </c:pt>
                <c:pt idx="8">
                  <c:v>98.5</c:v>
                </c:pt>
                <c:pt idx="9">
                  <c:v>98.5</c:v>
                </c:pt>
                <c:pt idx="10">
                  <c:v>98.5</c:v>
                </c:pt>
                <c:pt idx="11">
                  <c:v>98.5</c:v>
                </c:pt>
              </c:numCache>
            </c:numRef>
          </c:val>
        </c:ser>
        <c:ser>
          <c:idx val="1"/>
          <c:order val="1"/>
          <c:tx>
            <c:v>NRR (%)</c:v>
          </c:tx>
          <c:spPr>
            <a:solidFill xmlns:a="http://schemas.openxmlformats.org/drawingml/2006/main">
              <a:srgbClr val="00A6A6"/>
            </a:solidFill>
          </c:spPr>
          <c:marker>
            <c:symbol val="none"/>
          </c:marker>
          <c:cat>
            <c:strRef>
              <c:f>'Chart Data'!$C$2:$C$13</c:f>
              <c:strCache>
                <c:ptCount val="12"/>
                <c:pt idx="0">
                  <c:v>01/26</c:v>
                </c:pt>
                <c:pt idx="1">
                  <c:v>02/26</c:v>
                </c:pt>
                <c:pt idx="2">
                  <c:v>03/26</c:v>
                </c:pt>
                <c:pt idx="3">
                  <c:v>04/26</c:v>
                </c:pt>
                <c:pt idx="4">
                  <c:v>05/26</c:v>
                </c:pt>
                <c:pt idx="5">
                  <c:v>06/26</c:v>
                </c:pt>
                <c:pt idx="6">
                  <c:v>07/26</c:v>
                </c:pt>
                <c:pt idx="7">
                  <c:v>08/26</c:v>
                </c:pt>
                <c:pt idx="8">
                  <c:v>09/26</c:v>
                </c:pt>
                <c:pt idx="9">
                  <c:v>10/26</c:v>
                </c:pt>
                <c:pt idx="10">
                  <c:v>11/26</c:v>
                </c:pt>
                <c:pt idx="11">
                  <c:v>12/26</c:v>
                </c:pt>
              </c:strCache>
            </c:strRef>
          </c:cat>
          <c:val>
            <c:numRef>
              <c:f>'Chart Data'!$D$2:$D$13</c:f>
              <c:numCache>
                <c:formatCode>General</c:formatCode>
                <c:ptCount val="12"/>
                <c:pt idx="0">
                  <c:v>102.1</c:v>
                </c:pt>
                <c:pt idx="1">
                  <c:v>98.5</c:v>
                </c:pt>
                <c:pt idx="2">
                  <c:v>98.4</c:v>
                </c:pt>
                <c:pt idx="3">
                  <c:v>98.5</c:v>
                </c:pt>
                <c:pt idx="4">
                  <c:v>98.5</c:v>
                </c:pt>
                <c:pt idx="5">
                  <c:v>98.4</c:v>
                </c:pt>
                <c:pt idx="6">
                  <c:v>98.5</c:v>
                </c:pt>
                <c:pt idx="7">
                  <c:v>98.5</c:v>
                </c:pt>
                <c:pt idx="8">
                  <c:v>98.5</c:v>
                </c:pt>
                <c:pt idx="9">
                  <c:v>98.5</c:v>
                </c:pt>
                <c:pt idx="10">
                  <c:v>98.6</c:v>
                </c:pt>
                <c:pt idx="11">
                  <c:v>98.5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Average logo retention (%)</c:v>
          </c:tx>
          <c:spPr>
            <a:solidFill xmlns:a="http://schemas.openxmlformats.org/drawingml/2006/main">
              <a:srgbClr val="00A6A6"/>
            </a:solidFill>
          </c:spPr>
          <c:marker>
            <c:symbol val="none"/>
          </c:marker>
          <c:cat>
            <c:numRef>
              <c:f>'Chart Data'!$A$2:$A$26</c:f>
              <c:numCache>
                <c:formatCode>General</c:formatCode>
                <c:ptCount val="25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</c:numCache>
            </c:numRef>
          </c:cat>
          <c:val>
            <c:numRef>
              <c:f>'Chart Data'!$B$2:$B$26</c:f>
              <c:numCache>
                <c:formatCode>General</c:formatCode>
                <c:ptCount val="25"/>
                <c:pt idx="0">
                  <c:v>100</c:v>
                </c:pt>
                <c:pt idx="1">
                  <c:v>97.7</c:v>
                </c:pt>
                <c:pt idx="2">
                  <c:v>96.2</c:v>
                </c:pt>
                <c:pt idx="3">
                  <c:v>94.1</c:v>
                </c:pt>
                <c:pt idx="4">
                  <c:v>92.2</c:v>
                </c:pt>
                <c:pt idx="5">
                  <c:v>90.3</c:v>
                </c:pt>
                <c:pt idx="6">
                  <c:v>88.6</c:v>
                </c:pt>
                <c:pt idx="7">
                  <c:v>86.7</c:v>
                </c:pt>
                <c:pt idx="8">
                  <c:v>85</c:v>
                </c:pt>
                <c:pt idx="9">
                  <c:v>83.2</c:v>
                </c:pt>
                <c:pt idx="10">
                  <c:v>81.2</c:v>
                </c:pt>
                <c:pt idx="11">
                  <c:v>79.6</c:v>
                </c:pt>
                <c:pt idx="12">
                  <c:v>78.1</c:v>
                </c:pt>
                <c:pt idx="13">
                  <c:v>76.6</c:v>
                </c:pt>
                <c:pt idx="14">
                  <c:v>74.8</c:v>
                </c:pt>
                <c:pt idx="15">
                  <c:v>73.4</c:v>
                </c:pt>
                <c:pt idx="16">
                  <c:v>72</c:v>
                </c:pt>
                <c:pt idx="17">
                  <c:v>70.3</c:v>
                </c:pt>
                <c:pt idx="18">
                  <c:v>68.8</c:v>
                </c:pt>
                <c:pt idx="19">
                  <c:v>67.5</c:v>
                </c:pt>
                <c:pt idx="20">
                  <c:v>66.5</c:v>
                </c:pt>
                <c:pt idx="21">
                  <c:v>64.6</c:v>
                </c:pt>
                <c:pt idx="22">
                  <c:v>64</c:v>
                </c:pt>
                <c:pt idx="23">
                  <c:v>62.5</c:v>
                </c:pt>
                <c:pt idx="24">
                  <c:v>60.6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Dec ending cash ($M)</c:v>
          </c:tx>
          <c:spPr>
            <a:solidFill xmlns:a="http://schemas.openxmlformats.org/drawingml/2006/main">
              <a:srgbClr val="2F75B5"/>
            </a:solidFill>
          </c:spPr>
          <c:cat>
            <c:strRef>
              <c:f>'Chart Data'!$A$2:$A$4</c:f>
              <c:strCache>
                <c:ptCount val="3"/>
                <c:pt idx="0">
                  <c:v>P05</c:v>
                </c:pt>
                <c:pt idx="1">
                  <c:v>P50</c:v>
                </c:pt>
                <c:pt idx="2">
                  <c:v>P95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0.45</c:v>
                </c:pt>
                <c:pt idx="1">
                  <c:v>0.93</c:v>
                </c:pt>
                <c:pt idx="2">
                  <c:v>1.4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>
              <a:latin typeface="Arial"/>
              <a:ea typeface="Arial"/>
              <a:cs typeface="Arial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632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01A8CC-94BB-44D3-BB97-D22AAAAA1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28750"/>
            <a:ext cx="9810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SaaS FP&amp;A budgeting and forecasting model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503102-6331-42D4-A24C-1CDBEDAB2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933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B9E8E8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B9E8E8"/>
                </a:solidFill>
                <a:latin typeface="Arial"/>
                <a:ea typeface="Arial"/>
                <a:cs typeface="Arial"/>
              </a:rPr>
              <a:t>Management review | Actuals through June 2026 | Forecast through December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C5F85E-7497-4725-81E7-273A31C72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1475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Revenue, expenses, headcount, cash, scenarios, and funding outlook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F70DD1-E034-4F8D-8B18-DAF8169FC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90550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CBD5E1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CBD5E1"/>
                </a:solidFill>
                <a:latin typeface="Arial"/>
                <a:ea typeface="Arial"/>
                <a:cs typeface="Arial"/>
              </a:rPr>
              <a:t>All entities and values are synthetic</a:t>
            </a:r>
          </a:p>
        </p:txBody>
      </p:sp>
    </p:spTree>
    <p:extLst>
      <p:ext uri="{BB962C8B-B14F-4D97-AF65-F5344CB8AC3E}">
        <p14:creationId xmlns:p14="http://schemas.microsoft.com/office/powerpoint/2010/main" val="8043360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EA82C5-19A8-4673-BD2B-E0B060806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EXECUTIVE SUMMARY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2515E3-A34A-46AB-A68E-26898EF56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854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Revenue is ahead of budget, while cash declines toward a funding trigger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14757D-B27F-476E-A85E-C3C59A745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Synthetic SaaS portfolio case | Actuals through June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3EB6A5-CE67-4104-A6A2-3C101D1FC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7637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Jun MRR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A6519C-A229-4A44-BFE8-FF502EBFE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$430K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5441B3-13FF-44D5-A6AD-4D85762F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47637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Jun ARR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A27BA5-EAEF-4349-A286-D760B7779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0975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$5.2M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4BB505-2973-4908-8275-22C443EFD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47637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YTD revenue variance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095D64-CFC9-4A5D-8E9C-0D7376955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80975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$59K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9E4E59-1C07-48E3-B45F-042867CD1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0512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YTD operating loss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2EE4FD-54EE-4CEA-89BF-353764E90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$-3.6M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E3A9F8-0F4E-404B-A79D-16BD34F96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90512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Jun cash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F4DA76-E015-4F77-A820-996FA9F48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3850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$4.6M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D35D3A-4B00-4FD5-B95D-CB5E86097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05125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Dec cash forecast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7B20F7-3942-4640-99A7-22A58649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23850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$927K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6897941-051D-41BA-B259-3339FD4F4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6250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Base forecast cash falls below $1.0M by December. Management should validate financing timing and the minimum operating buffer.</a:t>
            </a:r>
          </a:p>
        </p:txBody>
      </p:sp>
    </p:spTree>
    <p:extLst>
      <p:ext uri="{BB962C8B-B14F-4D97-AF65-F5344CB8AC3E}">
        <p14:creationId xmlns:p14="http://schemas.microsoft.com/office/powerpoint/2010/main" val="5351615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370D6D-453C-493A-9F08-897610C68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REVENUE AND CUSTOMERS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254A52-E2C0-4075-AFA9-E5CEE5FB3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MRR reaches $430K in June as the customer base expands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E604D2-EA22-4642-965B-A5A1237CF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Synthetic SaaS portfolio case | Actuals through June 2026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85800" y="1428750"/>
          <a:ext xmlns:a="http://schemas.openxmlformats.org/drawingml/2006/main" cx="723900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a0b59ff6a06483b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4931ED-DADF-4EDC-A0AB-943EED3A0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19250"/>
            <a:ext cx="266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June ARR</a:t>
            </a:r>
          </a:p>
          <a:p xmlns:a="http://schemas.openxmlformats.org/drawingml/2006/main">
            <a:pPr>
              <a:defRPr sz="22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$5.2M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5E2C14-A984-40AB-9558-828CB6405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57500"/>
            <a:ext cx="266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Gross logo churn</a:t>
            </a:r>
          </a:p>
          <a:p xmlns:a="http://schemas.openxmlformats.org/drawingml/2006/main">
            <a:pPr>
              <a:defRPr sz="22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2.0%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220D37-E69D-48D5-B8DE-048039058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095750"/>
            <a:ext cx="266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548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Ending customers</a:t>
            </a:r>
          </a:p>
          <a:p xmlns:a="http://schemas.openxmlformats.org/drawingml/2006/main">
            <a:pPr>
              <a:defRPr sz="22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1,279</a:t>
            </a:r>
          </a:p>
        </p:txBody>
      </p:sp>
    </p:spTree>
    <p:extLst>
      <p:ext uri="{BB962C8B-B14F-4D97-AF65-F5344CB8AC3E}">
        <p14:creationId xmlns:p14="http://schemas.microsoft.com/office/powerpoint/2010/main" val="19004975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4B9A07-4F7F-4A29-A5D3-9764020AB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BUDGET VERSUS ACTUALS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9A91943-41B0-4B76-846E-30465402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Revenue outperformance does not offset the current expense base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421D1D-DDAF-476E-BFFD-38CF91CDA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Synthetic SaaS portfolio case | Actuals through June 2026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85800" y="1428750"/>
          <a:ext xmlns:a="http://schemas.openxmlformats.org/drawingml/2006/main" cx="7620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1d662739f9d47e7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C8FCFF-F63F-4710-92EC-0EF47C551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62125"/>
            <a:ext cx="2571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Revenue</a:t>
            </a:r>
          </a:p>
          <a:p xmlns:a="http://schemas.openxmlformats.org/drawingml/2006/main">
            <a:pPr>
              <a:defRPr sz="1875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$59K favorable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C818B4-BD32-4B99-8979-A3FEC8DB4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48000"/>
            <a:ext cx="2571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Total expense</a:t>
            </a:r>
          </a:p>
          <a:p xmlns:a="http://schemas.openxmlformats.org/drawingml/2006/main">
            <a:pPr>
              <a:defRPr sz="18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$10K over budget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6F375B-BE0B-4B3C-BCB1-1D8F206E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476750"/>
            <a:ext cx="2571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Operating loss</a:t>
            </a:r>
          </a:p>
          <a:p xmlns:a="http://schemas.openxmlformats.org/drawingml/2006/main">
            <a:pPr>
              <a:defRPr sz="18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$-3.6M</a:t>
            </a:r>
          </a:p>
        </p:txBody>
      </p:sp>
    </p:spTree>
    <p:extLst>
      <p:ext uri="{BB962C8B-B14F-4D97-AF65-F5344CB8AC3E}">
        <p14:creationId xmlns:p14="http://schemas.microsoft.com/office/powerpoint/2010/main" val="5227645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C7368D-79BF-419F-B840-8CDDA1EAB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EXPENSE AND HEADCOUNT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1910D2-73F1-4569-961D-04C5C20D0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Personnel remains the largest cost; headcount trails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85E72C-A6FE-4B3F-B1F1-09FEAA59B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Synthetic SaaS portfolio case | Actuals through June 2026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85800" y="1428750"/>
          <a:ext xmlns:a="http://schemas.openxmlformats.org/drawingml/2006/main" cx="75247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15a34208ca742f4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E5E389-982A-4D84-B5DD-1C9ADC185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762125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June actual HC</a:t>
            </a:r>
          </a:p>
          <a:p xmlns:a="http://schemas.openxmlformats.org/drawingml/2006/main">
            <a:pPr>
              <a:defRPr sz="21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52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0BCD97-7CEE-49FD-928E-054B6F73C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000375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June plan HC</a:t>
            </a:r>
          </a:p>
          <a:p xmlns:a="http://schemas.openxmlformats.org/drawingml/2006/main">
            <a:pPr>
              <a:defRPr sz="2100" b="1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667085"/>
                </a:solidFill>
                <a:latin typeface="Arial"/>
                <a:ea typeface="Arial"/>
                <a:cs typeface="Arial"/>
              </a:rPr>
              <a:t>52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8E75B4-84F7-443E-95AD-4C01D6916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238625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Variance</a:t>
            </a:r>
          </a:p>
          <a:p xmlns:a="http://schemas.openxmlformats.org/drawingml/2006/main">
            <a:pPr>
              <a:defRPr sz="2100" b="1">
                <a:solidFill>
                  <a:srgbClr val="548235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48235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557726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0C9EBA-CC05-4E5C-A312-8BBE20C81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CASH BURN AND RUNWAY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458C21-3069-4B3F-8400-329D9703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Base-case cash declines to $0.9M by December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25C9C7-B032-4365-8C8D-607CC676B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Synthetic SaaS portfolio case | Actuals through June 2026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85800" y="1428750"/>
          <a:ext xmlns:a="http://schemas.openxmlformats.org/drawingml/2006/main" cx="81915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7ca223cfadd4983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6A3295-A882-4163-9F08-4A75A97E0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157162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Forecast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7AFE67-2876-4E96-95E0-F0F2F95E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43125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June cash</a:t>
            </a:r>
          </a:p>
          <a:p xmlns:a="http://schemas.openxmlformats.org/drawingml/2006/main">
            <a:pPr>
              <a:defRPr sz="2025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$4.6M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6280A6-1D45-4813-A956-240E47A17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81375"/>
            <a:ext cx="2095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December cash</a:t>
            </a:r>
          </a:p>
          <a:p xmlns:a="http://schemas.openxmlformats.org/drawingml/2006/main">
            <a:pPr>
              <a:defRPr sz="202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$927K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9C7706-2731-4D0A-B31E-9702A1D4C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619625"/>
            <a:ext cx="209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Financing work should begin before the modeled cash buffer becomes operationally restrictive.</a:t>
            </a:r>
          </a:p>
        </p:txBody>
      </p:sp>
    </p:spTree>
    <p:extLst>
      <p:ext uri="{BB962C8B-B14F-4D97-AF65-F5344CB8AC3E}">
        <p14:creationId xmlns:p14="http://schemas.microsoft.com/office/powerpoint/2010/main" val="17796758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62958F-7530-4CC0-81EB-17A44FE1E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FORECAST SCENARIOS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66D0E4-51C7-4814-94E7-6380E5F90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Cash outcomes reflect the tradeoff between growth and hiring pace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74D63A-4A85-4D7A-8374-2B4F5736E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Synthetic SaaS portfolio case | Actuals through June 2026</a:t>
            </a:r>
          </a:p>
        </p:txBody>
      </p:sp>
      <p:graphicFrame>
        <p:nvGraphicFramePr>
          <p:cNvPr id="12" name="Chart"/>
          <p:cNvGraphicFramePr/>
          <p:nvPr/>
        </p:nvGraphicFramePr>
        <p:xfrm>
          <a:off xmlns:a="http://schemas.openxmlformats.org/drawingml/2006/main" x="685800" y="1524000"/>
          <a:ext xmlns:a="http://schemas.openxmlformats.org/drawingml/2006/main" cx="7239000" cy="3905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da95755cc754455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BE7CBC-FA50-4C2D-9535-A1983B009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6192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Upside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5E7F7A-A745-415B-9152-96D148B86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52625"/>
            <a:ext cx="266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December cash: $0.57M</a:t>
            </a:r>
          </a:p>
          <a:p xmlns:a="http://schemas.openxmlformats.org/drawingml/2006/main">
            <a:pPr>
              <a:defRPr sz="135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Growth improves, but faster hiring consumes cash in this case.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EA4977-0C58-4327-9BE4-70A836B90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3337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Downside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F342C9-7D00-4B2A-8A75-DB1654E6B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67125"/>
            <a:ext cx="266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December cash: $2.03M</a:t>
            </a:r>
          </a:p>
          <a:p xmlns:a="http://schemas.openxmlformats.org/drawingml/2006/main">
            <a:pPr>
              <a:defRPr sz="1350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Reduced hiring preserves cash despite weaker revenue.</a:t>
            </a:r>
          </a:p>
        </p:txBody>
      </p:sp>
    </p:spTree>
    <p:extLst>
      <p:ext uri="{BB962C8B-B14F-4D97-AF65-F5344CB8AC3E}">
        <p14:creationId xmlns:p14="http://schemas.microsoft.com/office/powerpoint/2010/main" val="103021559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E00F89-A5CB-498B-A802-57DC6660A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SAAS UNIT ECONOMICS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7D5BC5-AFBB-4586-A28C-EB486E933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Retention and acquisition economics sharpen the growth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09711C-CED7-420D-9BC3-FB90B55A2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Synthetic SaaS portfolio case | Actuals through June 2026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85800" y="1476375"/>
          <a:ext xmlns:a="http://schemas.openxmlformats.org/drawingml/2006/main" cx="723900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48e4180daab4453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9A49E5-FE65-44B2-8BC0-A674667A5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62125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LTV / CAC</a:t>
            </a:r>
          </a:p>
          <a:p xmlns:a="http://schemas.openxmlformats.org/drawingml/2006/main">
            <a:pPr>
              <a:defRPr sz="21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5.7x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EB282B-F18A-4332-973F-08C33C3A9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48000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CAC</a:t>
            </a:r>
          </a:p>
          <a:p xmlns:a="http://schemas.openxmlformats.org/drawingml/2006/main">
            <a:pPr>
              <a:defRPr sz="210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$3K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928A3B-493A-4692-BEA0-0EFBEBE25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33875"/>
            <a:ext cx="238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LTV</a:t>
            </a:r>
          </a:p>
          <a:p xmlns:a="http://schemas.openxmlformats.org/drawingml/2006/main">
            <a:pPr>
              <a:defRPr sz="21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$14K</a:t>
            </a:r>
          </a:p>
        </p:txBody>
      </p:sp>
    </p:spTree>
    <p:extLst>
      <p:ext uri="{BB962C8B-B14F-4D97-AF65-F5344CB8AC3E}">
        <p14:creationId xmlns:p14="http://schemas.microsoft.com/office/powerpoint/2010/main" val="32897677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C3F5F3-29FA-4F7E-A1CB-EBA009256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COHORT ANALYTICS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116AA7-6930-4D70-83D3-62DA3D667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Cohort retention separates mix effects from true customer durability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CCFE8F-C468-4A21-B38B-73A73118A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Synthetic SaaS portfolio case | Actuals through June 2026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mlns:a="http://schemas.openxmlformats.org/drawingml/2006/main" x="685800" y="1476375"/>
          <a:ext xmlns:a="http://schemas.openxmlformats.org/drawingml/2006/main" cx="8096250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8b26ad8e14246a3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6833E6-F2F0-4E43-B3EF-188FC60E1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166687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Interpretation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4487A1-6BFE-47BA-A1AE-6924E5A09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2095500"/>
            <a:ext cx="2095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Cohort retention should be segmented by plan, channel, and customer size before operational decisions.</a:t>
            </a:r>
          </a:p>
        </p:txBody>
      </p:sp>
    </p:spTree>
    <p:extLst>
      <p:ext uri="{BB962C8B-B14F-4D97-AF65-F5344CB8AC3E}">
        <p14:creationId xmlns:p14="http://schemas.microsoft.com/office/powerpoint/2010/main" val="120145249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F8EEF3-7FE4-42BD-8501-5DA33FD4B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FORECAST MODEL RISK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C97E0F-EC26-4C47-A7BF-363F8DD34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Liquidity risk remains material across stochastic outcomes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B24CA9-53A3-42E5-AA22-C0506FC54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Synthetic SaaS portfolio case | Actuals through June 2026</a:t>
            </a:r>
          </a:p>
        </p:txBody>
      </p:sp>
      <p:graphicFrame>
        <p:nvGraphicFramePr>
          <p:cNvPr id="11" name="Chart"/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7048500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fd5201b03344678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C630AB-98CF-4370-8F59-B8A5F96C7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09750"/>
            <a:ext cx="266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Below $1M</a:t>
            </a:r>
          </a:p>
          <a:p xmlns:a="http://schemas.openxmlformats.org/drawingml/2006/main">
            <a:pPr>
              <a:defRPr sz="21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59.7%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9E93B6B-888F-4BE2-B67B-0B21975E2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90875"/>
            <a:ext cx="2667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Below zero</a:t>
            </a:r>
          </a:p>
          <a:p xmlns:a="http://schemas.openxmlformats.org/drawingml/2006/main">
            <a:pPr>
              <a:defRPr sz="2175" b="1">
                <a:solidFill>
                  <a:srgbClr val="C0000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C00000"/>
                </a:solidFill>
                <a:latin typeface="Arial"/>
                <a:ea typeface="Arial"/>
                <a:cs typeface="Arial"/>
              </a:rPr>
              <a:t>0.1%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D57FC9-AEB9-4D44-AE2A-7887C45DD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572000"/>
            <a:ext cx="266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Back-test MAPE</a:t>
            </a:r>
          </a:p>
          <a:p xmlns:a="http://schemas.openxmlformats.org/drawingml/2006/main">
            <a:pPr>
              <a:defRPr sz="1875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0.9%</a:t>
            </a:r>
          </a:p>
        </p:txBody>
      </p:sp>
    </p:spTree>
    <p:extLst>
      <p:ext uri="{BB962C8B-B14F-4D97-AF65-F5344CB8AC3E}">
        <p14:creationId xmlns:p14="http://schemas.microsoft.com/office/powerpoint/2010/main" val="166503460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27476C-856B-4674-83B1-1F6E4BB65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ACTIONS AND CONTROLS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352528-B523-470F-8ED9-1BFE756CB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324F"/>
                </a:solidFill>
                <a:latin typeface="Arial"/>
                <a:ea typeface="Arial"/>
                <a:cs typeface="Arial"/>
              </a:rPr>
              <a:t>Management priorities for the next forecast cycle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70BED5-E73B-4CC4-9435-576ABCAC3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809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0000"/>
          </a:bodyPr>
          <a:lstStyle xmlns:a="http://schemas.openxmlformats.org/drawingml/2006/main"/>
          <a:p xmlns:a="http://schemas.openxmlformats.org/drawingml/2006/main">
            <a:pPr>
              <a:defRPr sz="750" b="0">
                <a:solidFill>
                  <a:srgbClr val="667085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667085"/>
                </a:solidFill>
                <a:latin typeface="Arial"/>
                <a:ea typeface="Arial"/>
                <a:cs typeface="Arial"/>
              </a:rPr>
              <a:t>Synthetic SaaS portfolio case | Actuals through June 2026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6007C1-76CA-4D62-AEF8-CE5EDADC0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76375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Funding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CE10DD-92C2-4619-A6C3-6C125727A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476375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Confirm the minimum cash buffer and start financing planning before Q4.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6F9200-C775-4C0A-84E2-87E24D8B3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52675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Retention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8BF970-77D7-4736-9C58-C892073F3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352675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Validate churn drivers by plan and owner before assigning corrective actions.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E337D0-7F5A-410C-A8A0-8251A013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28975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Hiring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6B2662-148D-4040-9EE4-BDAFAC052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28975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Tie each forecast hire to capacity, quota, or control requirements.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9AD56C-1AC5-4695-88D8-D31168913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05275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Cloud cost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AD8478-A301-4DC3-9F27-8EEEB7363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105275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Separate usage growth from unit-price and architecture effects.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6F24B3-D293-4122-B47B-E04391A17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81575"/>
            <a:ext cx="200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Reporting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CCC877-566F-4928-A678-AAFC683EF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981575"/>
            <a:ext cx="8096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6324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6324F"/>
                </a:solidFill>
                <a:latin typeface="Arial"/>
                <a:ea typeface="Arial"/>
                <a:cs typeface="Arial"/>
              </a:rPr>
              <a:t>Refresh actuals monthly, reconcile source totals, and review AI commentary manually.</a:t>
            </a:r>
          </a:p>
        </p:txBody>
      </p:sp>
    </p:spTree>
    <p:extLst>
      <p:ext uri="{BB962C8B-B14F-4D97-AF65-F5344CB8AC3E}">
        <p14:creationId xmlns:p14="http://schemas.microsoft.com/office/powerpoint/2010/main" val="10232620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2026-09-19T06:58:34.9220000Z</dcterms:created>
  <dcterms:modified xsi:type="dcterms:W3CDTF">2026-09-19T06:58:34.9220000Z</dcterms:modified>
</coreProperties>
</file>