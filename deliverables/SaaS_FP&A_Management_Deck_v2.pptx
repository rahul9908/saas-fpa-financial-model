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bc94eef3e243ac" /><Relationship Type="http://schemas.openxmlformats.org/officeDocument/2006/relationships/extended-properties" Target="/docProps/app.xml" Id="Rfe63386557e84564" /><Relationship Type="http://schemas.openxmlformats.org/officeDocument/2006/relationships/officeDocument" Target="/ppt/presentation.xml" Id="R428a9c787edd4f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52b0bd7b82407e"/>
  </p:sldMasterIdLst>
  <p:notesMasterIdLst>
    <p:notesMasterId xmlns:r="http://schemas.openxmlformats.org/officeDocument/2006/relationships" r:id="R3bcff3a173e44055"/>
  </p:notesMasterIdLst>
  <p:sldIdLst>
    <p:sldId xmlns:r="http://schemas.openxmlformats.org/officeDocument/2006/relationships" id="256" r:id="R687959527c9443bf"/>
    <p:sldId xmlns:r="http://schemas.openxmlformats.org/officeDocument/2006/relationships" id="257" r:id="R72c6dc3b5e37461e"/>
    <p:sldId xmlns:r="http://schemas.openxmlformats.org/officeDocument/2006/relationships" id="258" r:id="R32ea1e3646d944f4"/>
    <p:sldId xmlns:r="http://schemas.openxmlformats.org/officeDocument/2006/relationships" id="259" r:id="R12ac657899654685"/>
    <p:sldId xmlns:r="http://schemas.openxmlformats.org/officeDocument/2006/relationships" id="260" r:id="Rda46f875d06149e7"/>
    <p:sldId xmlns:r="http://schemas.openxmlformats.org/officeDocument/2006/relationships" id="261" r:id="R8fc86614142e41ad"/>
    <p:sldId xmlns:r="http://schemas.openxmlformats.org/officeDocument/2006/relationships" id="262" r:id="Re4a39f7f2a5f4a6f"/>
    <p:sldId xmlns:r="http://schemas.openxmlformats.org/officeDocument/2006/relationships" id="263" r:id="R38b417f05f0f4d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3201f71d61433b" /><Relationship Type="http://schemas.openxmlformats.org/officeDocument/2006/relationships/slideMaster" Target="/ppt/slideMasters/slideMaster1.xml" Id="Rac52b0bd7b82407e" /><Relationship Type="http://schemas.openxmlformats.org/officeDocument/2006/relationships/notesMaster" Target="/ppt/notesMasters/notesMaster1.xml" Id="R3bcff3a173e44055" /><Relationship Type="http://schemas.openxmlformats.org/officeDocument/2006/relationships/presProps" Target="/ppt/presProps.xml" Id="Recd7145618204f86" /><Relationship Type="http://schemas.openxmlformats.org/officeDocument/2006/relationships/tableStyles" Target="/ppt/tableStyles.xml" Id="Rfc5589bc97244cc0" /><Relationship Type="http://schemas.openxmlformats.org/officeDocument/2006/relationships/slide" Target="/ppt/slides/slide1.xml" Id="R687959527c9443bf" /><Relationship Type="http://schemas.openxmlformats.org/officeDocument/2006/relationships/slide" Target="/ppt/slides/slide2.xml" Id="R72c6dc3b5e37461e" /><Relationship Type="http://schemas.openxmlformats.org/officeDocument/2006/relationships/slide" Target="/ppt/slides/slide3.xml" Id="R32ea1e3646d944f4" /><Relationship Type="http://schemas.openxmlformats.org/officeDocument/2006/relationships/slide" Target="/ppt/slides/slide4.xml" Id="R12ac657899654685" /><Relationship Type="http://schemas.openxmlformats.org/officeDocument/2006/relationships/slide" Target="/ppt/slides/slide5.xml" Id="Rda46f875d06149e7" /><Relationship Type="http://schemas.openxmlformats.org/officeDocument/2006/relationships/slide" Target="/ppt/slides/slide6.xml" Id="R8fc86614142e41ad" /><Relationship Type="http://schemas.openxmlformats.org/officeDocument/2006/relationships/slide" Target="/ppt/slides/slide7.xml" Id="Re4a39f7f2a5f4a6f" /><Relationship Type="http://schemas.openxmlformats.org/officeDocument/2006/relationships/slide" Target="/ppt/slides/slide8.xml" Id="R38b417f05f0f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47c18e337642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96a1d4c1824d64" /><Relationship Type="http://schemas.openxmlformats.org/officeDocument/2006/relationships/notesMaster" Target="/ppt/notesMasters/notesMaster1.xml" Id="Rafc2e098845d41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26ce775e4489e" /><Relationship Type="http://schemas.openxmlformats.org/officeDocument/2006/relationships/notesMaster" Target="/ppt/notesMasters/notesMaster1.xml" Id="Re750efc2d0f54e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c0bdc49734406" /><Relationship Type="http://schemas.openxmlformats.org/officeDocument/2006/relationships/notesMaster" Target="/ppt/notesMasters/notesMaster1.xml" Id="R2594f618aa064f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9d9e00c6a84b62" /><Relationship Type="http://schemas.openxmlformats.org/officeDocument/2006/relationships/notesMaster" Target="/ppt/notesMasters/notesMaster1.xml" Id="Rcce8e3c303a8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0fa61f6e454f61" /><Relationship Type="http://schemas.openxmlformats.org/officeDocument/2006/relationships/notesMaster" Target="/ppt/notesMasters/notesMaster1.xml" Id="R21ba286a24d045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cef504827a4539" /><Relationship Type="http://schemas.openxmlformats.org/officeDocument/2006/relationships/notesMaster" Target="/ppt/notesMasters/notesMaster1.xml" Id="R0c226a99feec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210e9ce4294f7d" /><Relationship Type="http://schemas.openxmlformats.org/officeDocument/2006/relationships/notesMaster" Target="/ppt/notesMasters/notesMaster1.xml" Id="R38ef49e5d77c46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6c9e217130499c" /><Relationship Type="http://schemas.openxmlformats.org/officeDocument/2006/relationships/notesMaster" Target="/ppt/notesMasters/notesMaster1.xml" Id="Rb7c8686053994b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synthetic model outputs. Revenue variance = actual less budget. Expense and loss figures use the modeled accrual P&amp;L.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subscriptions.csv. MRR is ending customers multiplied by realized plan price, including modeled expansion for Growth and Enterprise plans.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financials_monthly.csv, January-June 2026. Expense variance wording is actual less budget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headcount_monthly.csv and operating_expenses.csv. Headcount variance is actual less planned at June month-end.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financials_monthly.csv. Cash flow is a planning proxy based on modeled revenue, costs, capex, and financing; it is not a GAAP statement of cash 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 outputs are modeled estimates. Driver definitions are in scenario_assumptions.csv and the Excel Scenarios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Actions are portfolio-case recommendations based on the model mechanics and should be validated against real operating constraints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309f5f0b94b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5390b86b8246ab" /><Relationship Type="http://schemas.openxmlformats.org/officeDocument/2006/relationships/slideLayout" Target="/ppt/slideLayouts/slideLayout1.xml" Id="Rde953b1ca9f242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953b1ca9f242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0ee370a824d09" /><Relationship Type="http://schemas.openxmlformats.org/officeDocument/2006/relationships/notesSlide" Target="/ppt/notesSlides/notesSlide1.xml" Id="R0b3d9bc9b42549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2e3fa4c704ef3" /><Relationship Type="http://schemas.openxmlformats.org/officeDocument/2006/relationships/notesSlide" Target="/ppt/notesSlides/notesSlide2.xml" Id="Rd92dd116258d41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6a189fca44d91" /><Relationship Type="http://schemas.openxmlformats.org/officeDocument/2006/relationships/chart" Target="/ppt/slides/charts/chart1.xml" Id="R80c80588e23d42a1" /><Relationship Type="http://schemas.openxmlformats.org/officeDocument/2006/relationships/notesSlide" Target="/ppt/notesSlides/notesSlide3.xml" Id="R067d5190494043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536bc56b14a2e" /><Relationship Type="http://schemas.openxmlformats.org/officeDocument/2006/relationships/chart" Target="/ppt/slides/charts/chart2.xml" Id="Rd939f433bec04737" /><Relationship Type="http://schemas.openxmlformats.org/officeDocument/2006/relationships/notesSlide" Target="/ppt/notesSlides/notesSlide4.xml" Id="R16f997ae23f74e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cef9cb7c44ff1" /><Relationship Type="http://schemas.openxmlformats.org/officeDocument/2006/relationships/chart" Target="/ppt/slides/charts/chart3.xml" Id="Rfa5100b0ddd044d5" /><Relationship Type="http://schemas.openxmlformats.org/officeDocument/2006/relationships/notesSlide" Target="/ppt/notesSlides/notesSlide5.xml" Id="Rdeccc885168d43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73be360e4419c" /><Relationship Type="http://schemas.openxmlformats.org/officeDocument/2006/relationships/chart" Target="/ppt/slides/charts/chart4.xml" Id="R256a5f42a221473e" /><Relationship Type="http://schemas.openxmlformats.org/officeDocument/2006/relationships/notesSlide" Target="/ppt/notesSlides/notesSlide6.xml" Id="Rff4dc62f394f4e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b80ca0e074933" /><Relationship Type="http://schemas.openxmlformats.org/officeDocument/2006/relationships/chart" Target="/ppt/slides/charts/chart5.xml" Id="R2336218dad9a475a" /><Relationship Type="http://schemas.openxmlformats.org/officeDocument/2006/relationships/notesSlide" Target="/ppt/notesSlides/notesSlide7.xml" Id="R4f74d130490544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f81af6434464d" /><Relationship Type="http://schemas.openxmlformats.org/officeDocument/2006/relationships/notesSlide" Target="/ppt/notesSlides/notesSlide8.xml" Id="R808ab3f56862491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MRR ($K)</c:v>
          </c:tx>
          <c:spPr>
            <a:solidFill xmlns:a="http://schemas.openxmlformats.org/drawingml/2006/main">
              <a:srgbClr val="2F75B5"/>
            </a:solidFill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07/25</c:v>
                </c:pt>
                <c:pt idx="1">
                  <c:v>08/25</c:v>
                </c:pt>
                <c:pt idx="2">
                  <c:v>09/25</c:v>
                </c:pt>
                <c:pt idx="3">
                  <c:v>10/25</c:v>
                </c:pt>
                <c:pt idx="4">
                  <c:v>11/25</c:v>
                </c:pt>
                <c:pt idx="5">
                  <c:v>12/25</c:v>
                </c:pt>
                <c:pt idx="6">
                  <c:v>01/26</c:v>
                </c:pt>
                <c:pt idx="7">
                  <c:v>02/26</c:v>
                </c:pt>
                <c:pt idx="8">
                  <c:v>03/26</c:v>
                </c:pt>
                <c:pt idx="9">
                  <c:v>04/26</c:v>
                </c:pt>
                <c:pt idx="10">
                  <c:v>05/26</c:v>
                </c:pt>
                <c:pt idx="11">
                  <c:v>06/26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318.9</c:v>
                </c:pt>
                <c:pt idx="1">
                  <c:v>326.7</c:v>
                </c:pt>
                <c:pt idx="2">
                  <c:v>333</c:v>
                </c:pt>
                <c:pt idx="3">
                  <c:v>339.9</c:v>
                </c:pt>
                <c:pt idx="4">
                  <c:v>347.1</c:v>
                </c:pt>
                <c:pt idx="5">
                  <c:v>352.6</c:v>
                </c:pt>
                <c:pt idx="6">
                  <c:v>374</c:v>
                </c:pt>
                <c:pt idx="7">
                  <c:v>386.1</c:v>
                </c:pt>
                <c:pt idx="8">
                  <c:v>397.2</c:v>
                </c:pt>
                <c:pt idx="9">
                  <c:v>410.4</c:v>
                </c:pt>
                <c:pt idx="10">
                  <c:v>420.6</c:v>
                </c:pt>
                <c:pt idx="11">
                  <c:v>430.4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Budget ($M)</c:v>
          </c:tx>
          <c:spPr>
            <a:solidFill xmlns:a="http://schemas.openxmlformats.org/drawingml/2006/main">
              <a:srgbClr val="AAB7C4"/>
            </a:solidFill>
          </c:spPr>
          <c:cat>
            <c:strRef>
              <c:f>'Chart Data'!$A$2:$A$5</c:f>
              <c:strCache>
                <c:ptCount val="4"/>
                <c:pt idx="0">
                  <c:v>Revenue</c:v>
                </c:pt>
                <c:pt idx="1">
                  <c:v>COGS</c:v>
                </c:pt>
                <c:pt idx="2">
                  <c:v>Payroll</c:v>
                </c:pt>
                <c:pt idx="3">
                  <c:v>Other opex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2.36</c:v>
                </c:pt>
                <c:pt idx="1">
                  <c:v>0.45</c:v>
                </c:pt>
                <c:pt idx="2">
                  <c:v>3.81</c:v>
                </c:pt>
                <c:pt idx="3">
                  <c:v>1.73</c:v>
                </c:pt>
              </c:numCache>
            </c:numRef>
          </c:val>
        </c:ser>
        <c:ser>
          <c:idx val="1"/>
          <c:order val="1"/>
          <c:tx>
            <c:v>Actual ($M)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Data'!$C$2:$C$5</c:f>
              <c:strCache>
                <c:ptCount val="4"/>
                <c:pt idx="0">
                  <c:v>Revenue</c:v>
                </c:pt>
                <c:pt idx="1">
                  <c:v>COGS</c:v>
                </c:pt>
                <c:pt idx="2">
                  <c:v>Payroll</c:v>
                </c:pt>
                <c:pt idx="3">
                  <c:v>Other opex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2.42</c:v>
                </c:pt>
                <c:pt idx="1">
                  <c:v>0.47</c:v>
                </c:pt>
                <c:pt idx="2">
                  <c:v>3.73</c:v>
                </c:pt>
                <c:pt idx="3">
                  <c:v>1.79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YTD actual ($M)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Data'!$A$2:$A$7</c:f>
              <c:strCache>
                <c:ptCount val="6"/>
                <c:pt idx="0">
                  <c:v>Payroll</c:v>
                </c:pt>
                <c:pt idx="1">
                  <c:v>Marketing</c:v>
                </c:pt>
                <c:pt idx="2">
                  <c:v>Cloud &amp; API</c:v>
                </c:pt>
                <c:pt idx="3">
                  <c:v>Software</c:v>
                </c:pt>
                <c:pt idx="4">
                  <c:v>Office &amp; Admin</c:v>
                </c:pt>
                <c:pt idx="5">
                  <c:v>Professional services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3.73</c:v>
                </c:pt>
                <c:pt idx="1">
                  <c:v>0.83</c:v>
                </c:pt>
                <c:pt idx="2">
                  <c:v>0.29</c:v>
                </c:pt>
                <c:pt idx="3">
                  <c:v>0.23</c:v>
                </c:pt>
                <c:pt idx="4">
                  <c:v>0.27</c:v>
                </c:pt>
                <c:pt idx="5">
                  <c:v>0.17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Ending cash ($M)</c:v>
          </c:tx>
          <c:spPr>
            <a:solidFill xmlns:a="http://schemas.openxmlformats.org/drawingml/2006/main">
              <a:srgbClr val="C00000"/>
            </a:solidFill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01/26</c:v>
                </c:pt>
                <c:pt idx="1">
                  <c:v>02/26</c:v>
                </c:pt>
                <c:pt idx="2">
                  <c:v>03/26</c:v>
                </c:pt>
                <c:pt idx="3">
                  <c:v>04/26</c:v>
                </c:pt>
                <c:pt idx="4">
                  <c:v>05/26</c:v>
                </c:pt>
                <c:pt idx="5">
                  <c:v>06/26</c:v>
                </c:pt>
                <c:pt idx="6">
                  <c:v>07/26</c:v>
                </c:pt>
                <c:pt idx="7">
                  <c:v>08/26</c:v>
                </c:pt>
                <c:pt idx="8">
                  <c:v>09/26</c:v>
                </c:pt>
                <c:pt idx="9">
                  <c:v>10/26</c:v>
                </c:pt>
                <c:pt idx="10">
                  <c:v>11/26</c:v>
                </c:pt>
                <c:pt idx="11">
                  <c:v>12/26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7.65</c:v>
                </c:pt>
                <c:pt idx="1">
                  <c:v>7.07</c:v>
                </c:pt>
                <c:pt idx="2">
                  <c:v>6.47</c:v>
                </c:pt>
                <c:pt idx="3">
                  <c:v>5.86</c:v>
                </c:pt>
                <c:pt idx="4">
                  <c:v>5.24</c:v>
                </c:pt>
                <c:pt idx="5">
                  <c:v>4.61</c:v>
                </c:pt>
                <c:pt idx="6">
                  <c:v>3.96</c:v>
                </c:pt>
                <c:pt idx="7">
                  <c:v>3.35</c:v>
                </c:pt>
                <c:pt idx="8">
                  <c:v>2.74</c:v>
                </c:pt>
                <c:pt idx="9">
                  <c:v>2.13</c:v>
                </c:pt>
                <c:pt idx="10">
                  <c:v>1.53</c:v>
                </c:pt>
                <c:pt idx="11">
                  <c:v>0.93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Dec ending cash ($M)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Data'!$A$2:$A$4</c:f>
              <c:strCache>
                <c:ptCount val="3"/>
                <c:pt idx="0">
                  <c:v>Base</c:v>
                </c:pt>
                <c:pt idx="1">
                  <c:v>Upside</c:v>
                </c:pt>
                <c:pt idx="2">
                  <c:v>Downside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</c:v>
                </c:pt>
                <c:pt idx="1">
                  <c:v>0.57</c:v>
                </c:pt>
                <c:pt idx="2">
                  <c:v>2.03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0B3FD-59C3-40B8-B8CA-8EE4CD2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SaaS FP&amp;A budgeting and forecasting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D6A40-873C-4CD1-B9CB-914FFDD8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E8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9E8E8"/>
                </a:solidFill>
                <a:latin typeface="Arial"/>
                <a:ea typeface="Arial"/>
                <a:cs typeface="Arial"/>
              </a:rPr>
              <a:t>Management review | Actuals through June 2026 | Forecast through December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D8854-7D51-4354-B72D-3C4D7E09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Revenue, expenses, headcount, cash, scenarios, and funding outlook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4D6F9-2896-4E54-8325-24AA3724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All entities and values are synthetic</a:t>
            </a:r>
          </a:p>
        </p:txBody>
      </p:sp>
    </p:spTree>
    <p:extLst>
      <p:ext uri="{BB962C8B-B14F-4D97-AF65-F5344CB8AC3E}">
        <p14:creationId xmlns:p14="http://schemas.microsoft.com/office/powerpoint/2010/main" val="821850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37FEF-4183-4832-A50D-66C49B98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5BFCC-CC6D-493C-B07E-F5A50DA5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5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Revenue is ahead of budget, while cash declines toward a funding trigger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28FFE-C40F-43DB-87A6-40D9B0E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14FC1-0068-476D-BD7A-F2CF5EBB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Jun MRR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C2707-BE0A-4165-BAF9-0D1A4A39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$430K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CA7F4-4AFD-42DF-801A-D5019211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76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Jun ARR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2E348-D98F-4B7E-B791-5D283419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$5.2M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C6251-59A7-45B9-B35F-D39422CD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76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YTD revenue variance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A6E78-561A-4E0B-8029-3795E058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$59K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12D8A-F751-4053-A369-9C6427C2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YTD operating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E1692-C0A3-499C-BE41-A0C8BF8A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$-3.6M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565AD-EFFA-477B-920B-DB9AAC17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05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Jun cash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242F2-3FC4-48F4-ADCD-77AE8BB3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$4.6M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90C3C-0DB2-465C-94EC-9612B98F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05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Dec cash forecast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F5423-51E3-4F4F-B711-DDAD8A9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$927K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599E2-E0B3-4D21-B4A1-F946D434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Base forecast cash falls below $1.0M by December. Management should validate financing timing and the minimum operating buffer.</a:t>
            </a:r>
          </a:p>
        </p:txBody>
      </p:sp>
    </p:spTree>
    <p:extLst>
      <p:ext uri="{BB962C8B-B14F-4D97-AF65-F5344CB8AC3E}">
        <p14:creationId xmlns:p14="http://schemas.microsoft.com/office/powerpoint/2010/main" val="20860501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EEAD9-AF1F-4A36-9950-F1EBDE42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REVENUE AND CUSTOMERS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B9DEE-EC48-4785-A702-9C13DD96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MRR reaches $430K in June as the customer base expands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DCFD7-E2A0-4214-AAA9-3FE6774D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c80588e23d42a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521B8-0E09-40E7-9911-7C18A335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June ARR</a:t>
            </a:r>
          </a:p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$5.2M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2234C-AF87-4447-A44C-62671930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Gross logo churn</a:t>
            </a:r>
          </a:p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2.0%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1AC62-55ED-40BD-A897-AC8AF3E5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4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Ending customers</a:t>
            </a:r>
          </a:p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1,279</a:t>
            </a:r>
          </a:p>
        </p:txBody>
      </p:sp>
    </p:spTree>
    <p:extLst>
      <p:ext uri="{BB962C8B-B14F-4D97-AF65-F5344CB8AC3E}">
        <p14:creationId xmlns:p14="http://schemas.microsoft.com/office/powerpoint/2010/main" val="1452814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BC7DC-D048-4DEA-9B2F-88F6FB38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BUDGET VERSUS ACTUALS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EBE3C-9658-42DD-9D6C-178713F6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Revenue outperformance does not offset the current expense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574CA-B0E5-4399-91AB-6DD8128F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620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39f433bec0473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FEF5C-5BA3-4F6D-BFAB-773A52F5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Revenue</a:t>
            </a:r>
          </a:p>
          <a:p xmlns:a="http://schemas.openxmlformats.org/drawingml/2006/main">
            <a:pPr>
              <a:defRPr sz="187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$59K favorable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EDF98-DF95-473A-8A52-F592CFAF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Total expense</a:t>
            </a:r>
          </a:p>
          <a:p xmlns:a="http://schemas.openxmlformats.org/drawingml/2006/main">
            <a:pPr>
              <a:defRPr sz="1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$10K over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A8F73-7754-4876-90E3-FA2F755A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Operating loss</a:t>
            </a:r>
          </a:p>
          <a:p xmlns:a="http://schemas.openxmlformats.org/drawingml/2006/main"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$-3.6M</a:t>
            </a:r>
          </a:p>
        </p:txBody>
      </p:sp>
    </p:spTree>
    <p:extLst>
      <p:ext uri="{BB962C8B-B14F-4D97-AF65-F5344CB8AC3E}">
        <p14:creationId xmlns:p14="http://schemas.microsoft.com/office/powerpoint/2010/main" val="622299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8A115-FE72-4D10-BAA6-EF37091A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EXPENSE AND HEADCOUNT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AD4F8-78D0-4A3F-88E6-E1BC2D07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Personnel remains the largest cost; headcount trails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D1BF1-D4F5-4648-B26D-CC424AE2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5100b0ddd044d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6B2A1-414C-4BBD-8160-CEB2675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June actual HC</a:t>
            </a:r>
          </a:p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FC139-17E6-4012-A699-93C38BC7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June plan HC</a:t>
            </a:r>
          </a:p>
          <a:p xmlns:a="http://schemas.openxmlformats.org/drawingml/2006/main">
            <a:pPr>
              <a:defRPr sz="21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D0497-94CE-4ABA-94B3-D8F91C15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Variance</a:t>
            </a:r>
          </a:p>
          <a:p xmlns:a="http://schemas.openxmlformats.org/drawingml/2006/main">
            <a:pPr>
              <a:defRPr sz="210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42893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B6051-3A79-4B71-AF77-EFEA27FC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CASH BURN AND RUNWAY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AF2E3-6478-4C28-8F4B-6908BB66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Base-case cash declines to $0.9M by December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B6EF4-1086-4070-BAF5-DCAC3CAB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8191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6a5f42a221473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07760-60B8-4D9E-B232-E7EE970D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9FC2B-164B-4D38-BCA5-6C47B4E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431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June cash</a:t>
            </a:r>
          </a:p>
          <a:p xmlns:a="http://schemas.openxmlformats.org/drawingml/2006/main">
            <a:pPr>
              <a:defRPr sz="20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$4.6M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ECA7E-BF57-4281-B320-02176DD3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December cash</a:t>
            </a:r>
          </a:p>
          <a:p xmlns:a="http://schemas.openxmlformats.org/drawingml/2006/main">
            <a:pPr>
              <a:defRPr sz="20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$927K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702DD-8179-4123-83EC-6C66EF26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Financing work should begin before the modeled cash buffer becomes operationally restrictive.</a:t>
            </a:r>
          </a:p>
        </p:txBody>
      </p:sp>
    </p:spTree>
    <p:extLst>
      <p:ext uri="{BB962C8B-B14F-4D97-AF65-F5344CB8AC3E}">
        <p14:creationId xmlns:p14="http://schemas.microsoft.com/office/powerpoint/2010/main" val="7555125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58282-B6B0-4C0C-AFEE-728036D3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FORECAST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65EB4-A26A-46D7-9FF3-97414F2E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Cash outcomes reflect the tradeoff between growth and hiring 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F66B3-829F-46A0-98FA-CFECC17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36218dad9a475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F5F3B-7689-4BAC-9FA3-CC66CCDA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Upside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9410F-C517-4102-B5BF-661813E0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December cash: $0.57M</a:t>
            </a:r>
          </a:p>
          <a:p xmlns:a="http://schemas.openxmlformats.org/drawingml/2006/main">
            <a:pPr>
              <a:defRPr sz="13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Growth improves, but faster hiring consumes cash in this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2DF25-7F58-46C2-AEDF-663F656D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Downside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D0A1B-1C7E-46E2-8B5F-ED8A9BB6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December cash: $2.03M</a:t>
            </a:r>
          </a:p>
          <a:p xmlns:a="http://schemas.openxmlformats.org/drawingml/2006/main">
            <a:pPr>
              <a:defRPr sz="13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Reduced hiring preserves cash despite weaker revenue.</a:t>
            </a:r>
          </a:p>
        </p:txBody>
      </p:sp>
    </p:spTree>
    <p:extLst>
      <p:ext uri="{BB962C8B-B14F-4D97-AF65-F5344CB8AC3E}">
        <p14:creationId xmlns:p14="http://schemas.microsoft.com/office/powerpoint/2010/main" val="1521801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E4465-1757-43BE-9A88-9327D2E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ACTIONS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A2BFF-87ED-4EF8-899C-8497C3B8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Management priorities for the next forecast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FC687-B697-45A9-9C3D-04BA9104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7113A-DA04-4B0B-A0F6-22B60B04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Funding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6C35F-43C5-49FF-92A2-0E8990E1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763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Confirm the minimum cash buffer and start financing planning before Q4.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35F95-0D51-4483-A297-351E40C3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13225-ACB7-4D24-A09C-F519592A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526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Validate churn drivers by plan and owner before assigning corrective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BFB06-6837-46BF-9E10-2EAC94C6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Hiring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0B241-0F05-4A5B-8434-D33EBFC3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289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Tie each forecast hire to capacity, quota, or control requirements.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F75B8-E164-4049-A290-A162C40D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Cloud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80BA3-E2E5-46FF-B672-A85D1311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052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Separate usage growth from unit-price and architecture effects.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8CA36-0F19-48F7-896D-EC76784D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1E55B-9492-486E-AAED-E53ACCC2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815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Refresh actuals monthly, reconcile source totals, and review AI commentary manually.</a:t>
            </a:r>
          </a:p>
        </p:txBody>
      </p:sp>
    </p:spTree>
    <p:extLst>
      <p:ext uri="{BB962C8B-B14F-4D97-AF65-F5344CB8AC3E}">
        <p14:creationId xmlns:p14="http://schemas.microsoft.com/office/powerpoint/2010/main" val="17246016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2026-09-19T03:07:10.5210000Z</dcterms:created>
  <dcterms:modified xsi:type="dcterms:W3CDTF">2026-09-19T03:07:10.5210000Z</dcterms:modified>
</coreProperties>
</file>